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— Opening
Good [morning/afternoon]. My name is Zandile Selao and I am the Project Manager for the COSUP Digital Platform.
Our team: Tshiamo Mosetlha, Matlhogonolo Keebine, Muhluri Nkuna, and Ndabezinhle Mathunyane.
Today I will walk you through:
- How we got COSUP to agree to our proposal
- Our unified website and mobile app (same design, same database)
- How the databases work and connect both platforms
- Our next steps as a team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How We Got COSUP On Board
As Project Manager, I led the engagement from day one.
Step 1 — Research: We studied COSUP's operations, mapped all 16 sites, and identified the gap — no digital presence at all.
Step 2 — Proposal: We proposed a UNIFIED platform — one website and one app, both connected to the same database. This was a key selling point: maintain one set of data and it reflects everywhere.
Step 3 — Meeting: COSUP management was most excited about the emergency Hopeline button, the language support for all 11 official South African languages, and the fact it costs them nothing.
Step 4 — Sign-off: The Programme Director formally approved after seeing our wireframes. We were given full access to branding and content.
Transition: Let me now show you what we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— Unified Platform
This is the core of our design decision: the website and the app are not separate products — they are two interfaces to the same platform.
Every page on the website has a matching screen on the app:
- Home page / Home screen: identical content — Hopeline button, service cards, impact stats, news
- Find Help: same map, same 16 sites, same service tags
- Auth / Profile: same registration and login flow; the app adds a profile preferences screen
Crucially: both platforms connect to the SAME database. When COSUP updates a site record, the change appears on both the website and the app simultaneously. They never need to update two places.
Tech differs (HTML+PHP for web, Kotlin for Android) but the data layer and visual design are identical.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— Shared Database Architecture
This is the key technical decision: ONE shared database for both platforms.
How it flows:
1. User opens the website or app
2. The request goes to our PHP REST API (the bridge layer running on the server)
3. PHP queries MySQL for structured data — sites, services, news
4. Firebase handles authentication and real-time features directly
MySQL (via phpMyAdmin) holds the structured, long-lived data: all 16 COSUP sites, services, news, user accounts.
Firebase holds the dynamic, user-specific data: login sessions, app preferences like dark mode and language, and push notifications.
The result: COSUP staff update ONE database. Both the website and the app reflect the change instantly. There is no 'website version' and 'app version' of the data — it is the same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— How the Databases Work
phpMyAdmin / MySQL:
- Think of phpMyAdmin as the control panel for MySQL. COSUP staff can log in and manage everything through a web dashboard — no coding needed.
- Technically: our PHP files on the server run SQL queries. When a user searches for a site, PHP does: SELECT * FROM sites WHERE area LIKE '%Pretoria%' and returns the result to the app or website as JSON.
- Tables include: users, sites, services, news, contact_submissions, and languages.
Firebase:
- Firebase is Google's cloud platform. We use two parts: Firestore (the database) and Firebase Authentication.
- Authentication means users never need to share plain passwords — Firebase handles hashing and token management.
- Real-time means: if COSUP pushes a notification, it appears on the app within seconds without the user refreshing.
- It also works offline — the app caches data locally and syncs when the phone reconnects to internet.
Simple summary: MySQL holds the content COSUP manages. Firebase handles who is logged in and keeps things fast and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— System Flow &amp; Next Steps
On the left you can see the two matching screens — the website Home page and the app Home screen. They look the same, and they show the same data from the same database.
Next steps for our team:
1. Retrieve source code — we have a server access issue. The website and app are live and fully functional, we just need to pull the code files for submission.
2. Complete the database connection on production — wire up the PHP–MySQL queries and confirm Firebase is connected in the live environment.
3. Test real-time sync — update a record in phpMyAdmin and confirm it appears on both platforms within seconds.
4. User testing — take the app to COSUP staff at their sites. Test all 11 languages and both dark/light modes.
5. Full handover — deliver everything to COSUP with documentation so they can maintain the platform independently.
CLOSING: I am proud of what this team has achieved. Zandile, Tshiamo, Matlhogonolo, Muhluri, and Ndabezinhle — we built something real that will help the COSUP community every day.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COSUP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320040" y="1389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Support Programme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737360"/>
            <a:ext cx="3291840" cy="0"/>
          </a:xfrm>
          <a:prstGeom prst="line">
            <a:avLst/>
          </a:prstGeom>
          <a:noFill/>
          <a:ln w="1905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920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Zandile Selao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2578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Tshiamo Mosetlha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Matlhogonolo Keebine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Muhluri Nkuna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Ndabezinhle Mathunyane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A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5029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Platform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663440" y="118872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663440" y="1938528"/>
            <a:ext cx="2029968" cy="658368"/>
          </a:xfrm>
          <a:prstGeom prst="rect">
            <a:avLst>
              <a:gd name="adj" fmla="val 16667"/>
            </a:avLst>
          </a:prstGeom>
          <a:solidFill>
            <a:srgbClr val="0F2218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2029968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Introduction &amp; Proposal Journey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2743200"/>
            <a:ext cx="2029968" cy="658368"/>
          </a:xfrm>
          <a:prstGeom prst="rect">
            <a:avLst>
              <a:gd name="adj" fmla="val 16667"/>
            </a:avLst>
          </a:prstGeom>
          <a:solidFill>
            <a:srgbClr val="0F2218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834640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Website &amp; App — Unified Platform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3547872"/>
            <a:ext cx="2029968" cy="658368"/>
          </a:xfrm>
          <a:prstGeom prst="rect">
            <a:avLst>
              <a:gd name="adj" fmla="val 16667"/>
            </a:avLst>
          </a:prstGeom>
          <a:solidFill>
            <a:srgbClr val="0F2218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3639312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Screen Comparison (Side by Side)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39712" y="1938528"/>
            <a:ext cx="2029968" cy="658368"/>
          </a:xfrm>
          <a:prstGeom prst="rect">
            <a:avLst>
              <a:gd name="adj" fmla="val 16667"/>
            </a:avLst>
          </a:prstGeom>
          <a:solidFill>
            <a:srgbClr val="0F2218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31152" y="2029968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Shared Database Architecture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39712" y="2743200"/>
            <a:ext cx="2029968" cy="658368"/>
          </a:xfrm>
          <a:prstGeom prst="rect">
            <a:avLst>
              <a:gd name="adj" fmla="val 16667"/>
            </a:avLst>
          </a:prstGeom>
          <a:solidFill>
            <a:srgbClr val="0F2218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931152" y="2834640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phpMyAdmin &amp; Firebase Explained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39712" y="3547872"/>
            <a:ext cx="2029968" cy="658368"/>
          </a:xfrm>
          <a:prstGeom prst="rect">
            <a:avLst>
              <a:gd name="adj" fmla="val 16667"/>
            </a:avLst>
          </a:prstGeom>
          <a:solidFill>
            <a:srgbClr val="0F2218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31152" y="3639312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System Flow &amp; Next Steps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63440" y="4754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FA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 Reduction · Community Care · Digital Access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INTRODUCTION — HOW WE GOT COSUP ON BOARD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92608" y="1115568"/>
            <a:ext cx="2011680" cy="3584448"/>
          </a:xfrm>
          <a:prstGeom prst="rect">
            <a:avLst>
              <a:gd name="adj" fmla="val 5455"/>
            </a:avLst>
          </a:prstGeom>
          <a:solidFill>
            <a:srgbClr val="1A3B2C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123444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978408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" y="1993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Research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2336" y="2432304"/>
            <a:ext cx="17922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COSUP as a leading harm-reduction NGO in Tshwane with no digital presence. Mapped all 16 sites, services, and community reach across the region.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50592" y="1115568"/>
            <a:ext cx="2011680" cy="3584448"/>
          </a:xfrm>
          <a:prstGeom prst="rect">
            <a:avLst>
              <a:gd name="adj" fmla="val 5455"/>
            </a:avLst>
          </a:prstGeom>
          <a:solidFill>
            <a:srgbClr val="1A3B2C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36392" y="123444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3136392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42032" y="1993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Drafted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560320" y="2432304"/>
            <a:ext cx="17922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 full proposal: a unified website + mobile app sharing one database. Key benefits highlighted — wider reach, real-time info, all 11 SA languages, zero cost to COSUP.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08576" y="1115568"/>
            <a:ext cx="2011680" cy="3584448"/>
          </a:xfrm>
          <a:prstGeom prst="rect">
            <a:avLst>
              <a:gd name="adj" fmla="val 5455"/>
            </a:avLst>
          </a:prstGeom>
          <a:solidFill>
            <a:srgbClr val="1A3B2C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94376" y="123444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6" name="Text 14"/>
          <p:cNvSpPr/>
          <p:nvPr/>
        </p:nvSpPr>
        <p:spPr>
          <a:xfrm>
            <a:off x="5294376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00016" y="1993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Meeting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18304" y="2432304"/>
            <a:ext cx="17922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COSUP management. The Hopeline emergency feature (0800 611 197), data privacy approach, and SA language support were the biggest wins in the room.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66560" y="1115568"/>
            <a:ext cx="2011680" cy="3584448"/>
          </a:xfrm>
          <a:prstGeom prst="rect">
            <a:avLst>
              <a:gd name="adj" fmla="val 5455"/>
            </a:avLst>
          </a:prstGeom>
          <a:solidFill>
            <a:srgbClr val="1A3B2C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52360" y="123444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1" name="Text 19"/>
          <p:cNvSpPr/>
          <p:nvPr/>
        </p:nvSpPr>
        <p:spPr>
          <a:xfrm>
            <a:off x="745236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0" y="1993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Reached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876288" y="2432304"/>
            <a:ext cx="17922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COSUP approved after reviewing prototype wireframes. Formal sign-off by the Programme Director. Team granted access to branding, content, and site data.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92608" y="4754880"/>
            <a:ext cx="8558784" cy="274320"/>
          </a:xfrm>
          <a:prstGeom prst="rect">
            <a:avLst>
              <a:gd name="adj" fmla="val 40000"/>
            </a:avLst>
          </a:prstGeom>
          <a:solidFill>
            <a:srgbClr val="2D6A4F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" y="477316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Key Outcome: COSUP granted full cooperation — access to branding, all site data, and content for the unified digital platform.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UNIFIED PLATFORM — WEBSITE &amp; APP SIDE BY SIDE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8595360" cy="420624"/>
          </a:xfrm>
          <a:prstGeom prst="rect">
            <a:avLst>
              <a:gd name="adj" fmla="val 26087"/>
            </a:avLst>
          </a:prstGeom>
          <a:solidFill>
            <a:srgbClr val="D4622A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6070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Same design language · Same database · Same content — the website and app are two faces of one platform.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157276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WEBSITE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09160" y="157276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  (Kotlin / Android)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9933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6FA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267712"/>
            <a:ext cx="4160520" cy="621792"/>
          </a:xfrm>
          <a:prstGeom prst="rect">
            <a:avLst>
              <a:gd name="adj" fmla="val 17647"/>
            </a:avLst>
          </a:prstGeom>
          <a:solidFill>
            <a:srgbClr val="0F2218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02336" y="2304288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COSUP wordmark header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02336" y="2496312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Hopeline 0800 611 197 banner (orange)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02336" y="2688336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4 service cards grid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09160" y="2267712"/>
            <a:ext cx="4160520" cy="621792"/>
          </a:xfrm>
          <a:prstGeom prst="rect">
            <a:avLst>
              <a:gd name="adj" fmla="val 17647"/>
            </a:avLst>
          </a:prstGeom>
          <a:solidFill>
            <a:srgbClr val="0F2218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37176" y="2304288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COSUP wordmark header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37176" y="2496312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Hopeline 0800 611 197 banner (orange)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37176" y="2688336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4 service cards grid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34840" y="2432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4320" y="298094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6FA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Help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255264"/>
            <a:ext cx="4160520" cy="621792"/>
          </a:xfrm>
          <a:prstGeom prst="rect">
            <a:avLst>
              <a:gd name="adj" fmla="val 17647"/>
            </a:avLst>
          </a:prstGeom>
          <a:solidFill>
            <a:srgbClr val="0F2218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02336" y="3291840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Search bar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02336" y="3483864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Interactive map — 16 pins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02336" y="3675888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Site cards: name · area · distance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09160" y="3255264"/>
            <a:ext cx="4160520" cy="621792"/>
          </a:xfrm>
          <a:prstGeom prst="rect">
            <a:avLst>
              <a:gd name="adj" fmla="val 17647"/>
            </a:avLst>
          </a:prstGeom>
          <a:solidFill>
            <a:srgbClr val="0F2218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37176" y="3291840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Search bar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37176" y="3483864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Interactive map — 16 pins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37176" y="3675888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Site cards: name · area · distance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434840" y="3419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74320" y="396849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6FA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/ Auth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242816"/>
            <a:ext cx="4160520" cy="621792"/>
          </a:xfrm>
          <a:prstGeom prst="rect">
            <a:avLst>
              <a:gd name="adj" fmla="val 17647"/>
            </a:avLst>
          </a:prstGeom>
          <a:solidFill>
            <a:srgbClr val="0F2218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02336" y="4279392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Register: name · email · phone · password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02336" y="4471416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Login: email + password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02336" y="4663440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Forgot password flow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09160" y="4242816"/>
            <a:ext cx="4160520" cy="621792"/>
          </a:xfrm>
          <a:prstGeom prst="rect">
            <a:avLst>
              <a:gd name="adj" fmla="val 17647"/>
            </a:avLst>
          </a:prstGeom>
          <a:solidFill>
            <a:srgbClr val="0F2218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37176" y="4279392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Register: name · email · phone · password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37176" y="4471416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Login: email + password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37176" y="4663440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Profile: dark mode · language · notifications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434840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274320" y="4736592"/>
            <a:ext cx="4160520" cy="292608"/>
          </a:xfrm>
          <a:prstGeom prst="rect">
            <a:avLst>
              <a:gd name="adj" fmla="val 37500"/>
            </a:avLst>
          </a:prstGeom>
          <a:solidFill>
            <a:srgbClr val="132A1E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02336" y="475488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A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JavaScript · PHP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4736592"/>
            <a:ext cx="4160520" cy="292608"/>
          </a:xfrm>
          <a:prstGeom prst="rect">
            <a:avLst>
              <a:gd name="adj" fmla="val 37500"/>
            </a:avLst>
          </a:prstGeom>
          <a:solidFill>
            <a:srgbClr val="132A1E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37176" y="475488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A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· Jetpack Nav · Material 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74320" y="502920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 Both connect to the same Firebase + MySQL database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SHARED DATABASE ARCHITECTURE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8595360" cy="402336"/>
          </a:xfrm>
          <a:prstGeom prst="rect">
            <a:avLst>
              <a:gd name="adj" fmla="val 27273"/>
            </a:avLst>
          </a:prstGeom>
          <a:solidFill>
            <a:srgbClr val="2D6A4F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database · Two interfaces · Real-time sync — update once, reflects everywhere instantly.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2377440" cy="566928"/>
          </a:xfrm>
          <a:prstGeom prst="rect">
            <a:avLst>
              <a:gd name="adj" fmla="val 19355"/>
            </a:avLst>
          </a:prstGeom>
          <a:solidFill>
            <a:srgbClr val="2D6A4F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5544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Website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(HTML/PHP)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1554480"/>
            <a:ext cx="2377440" cy="566928"/>
          </a:xfrm>
          <a:prstGeom prst="rect">
            <a:avLst>
              <a:gd name="adj" fmla="val 19355"/>
            </a:avLst>
          </a:prstGeom>
          <a:solidFill>
            <a:srgbClr val="2D6A4F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54680" y="15544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(Kotlin)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91640" y="2121408"/>
            <a:ext cx="0" cy="365760"/>
          </a:xfrm>
          <a:prstGeom prst="line">
            <a:avLst/>
          </a:prstGeom>
          <a:noFill/>
          <a:ln w="25400">
            <a:solidFill>
              <a:srgbClr val="52B7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2121408"/>
            <a:ext cx="0" cy="365760"/>
          </a:xfrm>
          <a:prstGeom prst="line">
            <a:avLst/>
          </a:prstGeom>
          <a:noFill/>
          <a:ln w="25400">
            <a:solidFill>
              <a:srgbClr val="52B7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55064" y="2450592"/>
            <a:ext cx="73152" cy="7315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3" name="Shape 11"/>
          <p:cNvSpPr/>
          <p:nvPr/>
        </p:nvSpPr>
        <p:spPr>
          <a:xfrm>
            <a:off x="4306824" y="2450592"/>
            <a:ext cx="73152" cy="7315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2523744"/>
            <a:ext cx="5029200" cy="548640"/>
          </a:xfrm>
          <a:prstGeom prst="rect">
            <a:avLst>
              <a:gd name="adj" fmla="val 20000"/>
            </a:avLst>
          </a:prstGeom>
          <a:solidFill>
            <a:srgbClr val="1A3B2C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252374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REST API  —  Server Bridge Layer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91640" y="3072384"/>
            <a:ext cx="0" cy="347472"/>
          </a:xfrm>
          <a:prstGeom prst="line">
            <a:avLst/>
          </a:prstGeom>
          <a:noFill/>
          <a:ln w="25400">
            <a:solidFill>
              <a:srgbClr val="52B7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31920" y="3072384"/>
            <a:ext cx="0" cy="347472"/>
          </a:xfrm>
          <a:prstGeom prst="line">
            <a:avLst/>
          </a:prstGeom>
          <a:noFill/>
          <a:ln w="25400">
            <a:solidFill>
              <a:srgbClr val="52B7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419856"/>
            <a:ext cx="2194560" cy="804672"/>
          </a:xfrm>
          <a:prstGeom prst="rect">
            <a:avLst>
              <a:gd name="adj" fmla="val 13636"/>
            </a:avLst>
          </a:prstGeom>
          <a:solidFill>
            <a:srgbClr val="0F2218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419856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phpMyAdmin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926080" y="3419856"/>
            <a:ext cx="2606040" cy="804672"/>
          </a:xfrm>
          <a:prstGeom prst="rect">
            <a:avLst>
              <a:gd name="adj" fmla="val 13636"/>
            </a:avLst>
          </a:prstGeom>
          <a:solidFill>
            <a:srgbClr val="0F2218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926080" y="3419856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DB + Auth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43400" y="2121408"/>
            <a:ext cx="0" cy="1298448"/>
          </a:xfrm>
          <a:prstGeom prst="line">
            <a:avLst/>
          </a:prstGeom>
          <a:noFill/>
          <a:ln w="12700">
            <a:solidFill>
              <a:srgbClr val="F5A623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4407408" y="2606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700" dirty="0"/>
          </a:p>
          <a:p>
            <a:pPr indent="0" marL="0">
              <a:buNone/>
            </a:pPr>
            <a:r>
              <a:rPr lang="en-US" sz="7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806440" y="1554480"/>
            <a:ext cx="3063240" cy="1426464"/>
          </a:xfrm>
          <a:prstGeom prst="rect">
            <a:avLst>
              <a:gd name="adj" fmla="val 7692"/>
            </a:avLst>
          </a:prstGeom>
          <a:solidFill>
            <a:srgbClr val="0F2218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0" y="164592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stores: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193852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User accounts &amp; profiles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943600" y="213969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All 16 site records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943600" y="2340864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Service descriptions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943600" y="254203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News articles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943600" y="2743200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Contact form submissions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806440" y="3090672"/>
            <a:ext cx="3063240" cy="1426464"/>
          </a:xfrm>
          <a:prstGeom prst="rect">
            <a:avLst>
              <a:gd name="adj" fmla="val 7692"/>
            </a:avLst>
          </a:prstGeom>
          <a:solidFill>
            <a:srgbClr val="0F2218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943600" y="318211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stores: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0" y="3474720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Auth tokens (login sessions)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943600" y="367588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App preferences (theme/language)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943600" y="387705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Push notifications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943600" y="4078224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Real-time data sync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943600" y="427939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Offline data caching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FA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Website and App both read/write to these same databases — no duplication, no sync issues.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HOW THE DATABASES WORK — phpMyAdmin &amp; Firebase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69080" cy="3931920"/>
          </a:xfrm>
          <a:prstGeom prst="rect">
            <a:avLst>
              <a:gd name="adj" fmla="val 2791"/>
            </a:avLst>
          </a:prstGeom>
          <a:solidFill>
            <a:srgbClr val="1A3B2C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8912" y="1152144"/>
            <a:ext cx="3739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phpMyAdmin  /  MySQL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8912" y="1499616"/>
            <a:ext cx="3739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FA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— Structured &amp; Permanent Data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" y="1847088"/>
            <a:ext cx="3739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" y="2057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web dashboard to manage MySQL — create tables, run queries, export backups, view records.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38912" y="2468880"/>
            <a:ext cx="3739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connects: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26791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on the server uses PDO or MySQLi to connect via host/username/password. Credentials stored in a secure config file.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38912" y="3090672"/>
            <a:ext cx="3739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 action: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33009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loads site list → PHP runs SELECT * FROM sites → result returned as JSON → displayed on page and app.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38912" y="3712464"/>
            <a:ext cx="3739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used: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39227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sites · services · news · contact_submissions · languages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38912" y="4334256"/>
            <a:ext cx="3739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tasks: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" y="45445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COSUP staff log into phpMyAdmin to add a new site, edit hours, or publish a news article — it updates both platforms.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00600" y="1051560"/>
            <a:ext cx="4069080" cy="3931920"/>
          </a:xfrm>
          <a:prstGeom prst="rect">
            <a:avLst>
              <a:gd name="adj" fmla="val 2791"/>
            </a:avLst>
          </a:prstGeom>
          <a:solidFill>
            <a:srgbClr val="0F2218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56048" y="1152144"/>
            <a:ext cx="3739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 (Google Cloud)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56048" y="1499616"/>
            <a:ext cx="3739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FA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Cloud Database — Real-time &amp; User Data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56048" y="1847088"/>
            <a:ext cx="3739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92624" y="2057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Google-hosted cloud database with real-time sync, authentication, and offline support built in.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956048" y="2468880"/>
            <a:ext cx="3739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connects: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92624" y="26791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SDK is added to both the website (JS) and app (Kotlin). It connects automatically using a secure API key from the Firebase console.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56048" y="3090672"/>
            <a:ext cx="3739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in action: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92624" y="33009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registers → Firebase Auth creates an encrypted account → login token stored securely → used for all protected requests.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956048" y="3712464"/>
            <a:ext cx="3739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92624" y="39227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users_auth · preferences · notifications · sessions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956048" y="4334256"/>
            <a:ext cx="3739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92624" y="45445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 — caches data locally, syncs when reconnected. Passwords are never stored in plain text — Google's security handles it.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49140" y="1051560"/>
            <a:ext cx="0" cy="3931920"/>
          </a:xfrm>
          <a:prstGeom prst="line">
            <a:avLst/>
          </a:prstGeom>
          <a:noFill/>
          <a:ln w="7620">
            <a:solidFill>
              <a:srgbClr val="40916C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274320" y="501091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= What COSUP shows the world     |     Firebase = How users experience it securely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SYSTEM FLOW &amp; NEXT STEPS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1024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&amp; App — Matching Screens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353312"/>
            <a:ext cx="2286000" cy="1920240"/>
          </a:xfrm>
          <a:prstGeom prst="rect">
            <a:avLst>
              <a:gd name="adj" fmla="val 5714"/>
            </a:avLst>
          </a:prstGeom>
          <a:solidFill>
            <a:srgbClr val="0F2218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53312"/>
            <a:ext cx="2286000" cy="347472"/>
          </a:xfrm>
          <a:prstGeom prst="rect">
            <a:avLst>
              <a:gd name="adj" fmla="val 26316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898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COSUP — Home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773936"/>
            <a:ext cx="2103120" cy="201168"/>
          </a:xfrm>
          <a:prstGeom prst="rect">
            <a:avLst>
              <a:gd name="adj" fmla="val 18182"/>
            </a:avLst>
          </a:prstGeom>
          <a:solidFill>
            <a:srgbClr val="1F3D2E"/>
          </a:solidFill>
          <a:ln w="3810">
            <a:solidFill>
              <a:srgbClr val="4091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792224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Hopeline: 0800 611 197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65760" y="2048256"/>
            <a:ext cx="2103120" cy="201168"/>
          </a:xfrm>
          <a:prstGeom prst="rect">
            <a:avLst>
              <a:gd name="adj" fmla="val 18182"/>
            </a:avLst>
          </a:prstGeom>
          <a:solidFill>
            <a:srgbClr val="1F3D2E"/>
          </a:solidFill>
          <a:ln w="3810">
            <a:solidFill>
              <a:srgbClr val="4091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2066544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Opioid Therapy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65760" y="2322576"/>
            <a:ext cx="2103120" cy="201168"/>
          </a:xfrm>
          <a:prstGeom prst="rect">
            <a:avLst>
              <a:gd name="adj" fmla="val 18182"/>
            </a:avLst>
          </a:prstGeom>
          <a:solidFill>
            <a:srgbClr val="1F3D2E"/>
          </a:solidFill>
          <a:ln w="3810">
            <a:solidFill>
              <a:srgbClr val="4091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2340864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💉 Needle &amp; Syringe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65760" y="2596896"/>
            <a:ext cx="2103120" cy="201168"/>
          </a:xfrm>
          <a:prstGeom prst="rect">
            <a:avLst>
              <a:gd name="adj" fmla="val 18182"/>
            </a:avLst>
          </a:prstGeom>
          <a:solidFill>
            <a:srgbClr val="1F3D2E"/>
          </a:solidFill>
          <a:ln w="3810">
            <a:solidFill>
              <a:srgbClr val="4091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2615184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Psychosocial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743200" y="1353312"/>
            <a:ext cx="2286000" cy="1920240"/>
          </a:xfrm>
          <a:prstGeom prst="rect">
            <a:avLst>
              <a:gd name="adj" fmla="val 5714"/>
            </a:avLst>
          </a:prstGeom>
          <a:solidFill>
            <a:srgbClr val="0F2218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0" y="1353312"/>
            <a:ext cx="2286000" cy="347472"/>
          </a:xfrm>
          <a:prstGeom prst="rect">
            <a:avLst>
              <a:gd name="adj" fmla="val 26316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13898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COSUP — Home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834640" y="1773936"/>
            <a:ext cx="2103120" cy="201168"/>
          </a:xfrm>
          <a:prstGeom prst="rect">
            <a:avLst>
              <a:gd name="adj" fmla="val 18182"/>
            </a:avLst>
          </a:prstGeom>
          <a:solidFill>
            <a:srgbClr val="1F3D2E"/>
          </a:solidFill>
          <a:ln w="3810">
            <a:solidFill>
              <a:srgbClr val="4091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71216" y="1792224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Hopeline: 0800 611 197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834640" y="2048256"/>
            <a:ext cx="2103120" cy="201168"/>
          </a:xfrm>
          <a:prstGeom prst="rect">
            <a:avLst>
              <a:gd name="adj" fmla="val 18182"/>
            </a:avLst>
          </a:prstGeom>
          <a:solidFill>
            <a:srgbClr val="1F3D2E"/>
          </a:solidFill>
          <a:ln w="3810">
            <a:solidFill>
              <a:srgbClr val="4091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71216" y="2066544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Opioid Therapy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834640" y="2322576"/>
            <a:ext cx="2103120" cy="201168"/>
          </a:xfrm>
          <a:prstGeom prst="rect">
            <a:avLst>
              <a:gd name="adj" fmla="val 18182"/>
            </a:avLst>
          </a:prstGeom>
          <a:solidFill>
            <a:srgbClr val="1F3D2E"/>
          </a:solidFill>
          <a:ln w="3810">
            <a:solidFill>
              <a:srgbClr val="40916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71216" y="2340864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💉 Needle &amp; Syringe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834640" y="2596896"/>
            <a:ext cx="2103120" cy="201168"/>
          </a:xfrm>
          <a:prstGeom prst="rect">
            <a:avLst>
              <a:gd name="adj" fmla="val 18182"/>
            </a:avLst>
          </a:prstGeom>
          <a:solidFill>
            <a:srgbClr val="1F3D2E"/>
          </a:solidFill>
          <a:ln w="3810">
            <a:solidFill>
              <a:srgbClr val="40916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71216" y="2615184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Psychosocial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74320" y="332841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FA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content · Same database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3621024"/>
            <a:ext cx="4754880" cy="292608"/>
          </a:xfrm>
          <a:prstGeom prst="rect">
            <a:avLst>
              <a:gd name="adj" fmla="val 37500"/>
            </a:avLst>
          </a:prstGeom>
          <a:solidFill>
            <a:srgbClr val="132A1E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5760" y="36393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Zandile Selao  ·  Tshiamo Mosetlha  ·  Matlhogonolo Keebine  ·  Muhluri Nkuna  ·  Ndabezinhle Mathunyane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394960" y="1024128"/>
            <a:ext cx="3474720" cy="3127248"/>
          </a:xfrm>
          <a:prstGeom prst="rect">
            <a:avLst>
              <a:gd name="adj" fmla="val 3509"/>
            </a:avLst>
          </a:prstGeom>
          <a:solidFill>
            <a:srgbClr val="0F2218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559552" y="1115568"/>
            <a:ext cx="3145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559552" y="1591056"/>
            <a:ext cx="292608" cy="292608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3" name="Text 31"/>
          <p:cNvSpPr/>
          <p:nvPr/>
        </p:nvSpPr>
        <p:spPr>
          <a:xfrm>
            <a:off x="5559552" y="1591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25312" y="1536192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source code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925312" y="1773936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server access — download website &amp; app code for submission and review.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559552" y="2249424"/>
            <a:ext cx="292608" cy="292608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7" name="Text 35"/>
          <p:cNvSpPr/>
          <p:nvPr/>
        </p:nvSpPr>
        <p:spPr>
          <a:xfrm>
            <a:off x="5559552" y="2249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25312" y="2194560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DB connection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925312" y="2432304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 PHP–MySQL and Firebase connections on the live production server.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559552" y="2907792"/>
            <a:ext cx="292608" cy="292608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41" name="Text 39"/>
          <p:cNvSpPr/>
          <p:nvPr/>
        </p:nvSpPr>
        <p:spPr>
          <a:xfrm>
            <a:off x="5559552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925312" y="2852928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 testing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925312" y="3090672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that updating a site in phpMyAdmin reflects on both platforms simultaneously.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559552" y="3566160"/>
            <a:ext cx="292608" cy="292608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45" name="Text 43"/>
          <p:cNvSpPr/>
          <p:nvPr/>
        </p:nvSpPr>
        <p:spPr>
          <a:xfrm>
            <a:off x="5559552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925312" y="3511296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925312" y="3749040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COSUP staff across sites in all 11 SA languages, dark + light mode.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559552" y="4224528"/>
            <a:ext cx="292608" cy="292608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49" name="Text 47"/>
          <p:cNvSpPr/>
          <p:nvPr/>
        </p:nvSpPr>
        <p:spPr>
          <a:xfrm>
            <a:off x="5559552" y="4224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925312" y="4169664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to COSUP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925312" y="4407408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codebase, DB credentials, admin guide, and training to the organisation.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74320" y="4736592"/>
            <a:ext cx="8595360" cy="292608"/>
          </a:xfrm>
          <a:prstGeom prst="rect">
            <a:avLst>
              <a:gd name="adj" fmla="val 37500"/>
            </a:avLst>
          </a:prstGeom>
          <a:solidFill>
            <a:srgbClr val="2D6A4F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274320" y="47365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COSUP Digital Platform  ·  Questions welcome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COSUP Digital Platform — Project Presentation</dc:title>
  <dc:subject>PptxGenJS Presentation</dc:subject>
  <dc:creator>PptxGenJS</dc:creator>
  <cp:lastModifiedBy>PptxGenJS</cp:lastModifiedBy>
  <cp:revision>1</cp:revision>
  <dcterms:created xsi:type="dcterms:W3CDTF">2026-06-11T22:52:02Z</dcterms:created>
  <dcterms:modified xsi:type="dcterms:W3CDTF">2026-06-11T22:52:02Z</dcterms:modified>
</cp:coreProperties>
</file>